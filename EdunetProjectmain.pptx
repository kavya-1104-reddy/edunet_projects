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7" r:id="rId7"/>
    <p:sldId id="279" r:id="rId8"/>
    <p:sldId id="289" r:id="rId9"/>
    <p:sldId id="290" r:id="rId10"/>
    <p:sldId id="264" r:id="rId11"/>
    <p:sldId id="288" r:id="rId12"/>
    <p:sldId id="286" r:id="rId13"/>
    <p:sldId id="27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658BC583-C496-4061-8DD9-4EE8935CA791}">
          <p14:sldIdLst>
            <p14:sldId id="283"/>
            <p14:sldId id="257"/>
            <p14:sldId id="282"/>
            <p14:sldId id="284"/>
            <p14:sldId id="285"/>
          </p14:sldIdLst>
        </p14:section>
        <p14:section name="Untitled Section" id="{792EE54C-BA3C-4915-B2DA-EA8D115AD215}">
          <p14:sldIdLst>
            <p14:sldId id="287"/>
            <p14:sldId id="279"/>
            <p14:sldId id="289"/>
            <p14:sldId id="290"/>
            <p14:sldId id="264"/>
            <p14:sldId id="288"/>
            <p14:sldId id="286"/>
            <p14:sldId id="277"/>
            <p14:sldId id="280"/>
            <p14:sldId id="276"/>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12AB8D-39FC-4CF6-A9A2-967DA4C0A8DB}" v="7" dt="2026-06-10T13:04:49.38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64" d="100"/>
          <a:sy n="64" d="100"/>
        </p:scale>
        <p:origin x="12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Navya sree" userId="1b698cf971f5afae" providerId="LiveId" clId="{DBABD78F-328A-4FCC-BA8A-AE35FA2CBFA5}"/>
    <pc:docChg chg="custSel addSld delSld modSld modSection">
      <pc:chgData name="A Navya sree" userId="1b698cf971f5afae" providerId="LiveId" clId="{DBABD78F-328A-4FCC-BA8A-AE35FA2CBFA5}" dt="2026-06-10T13:05:21.923" v="114" actId="20577"/>
      <pc:docMkLst>
        <pc:docMk/>
      </pc:docMkLst>
      <pc:sldChg chg="modSp mod">
        <pc:chgData name="A Navya sree" userId="1b698cf971f5afae" providerId="LiveId" clId="{DBABD78F-328A-4FCC-BA8A-AE35FA2CBFA5}" dt="2026-06-10T13:05:21.923" v="114" actId="20577"/>
        <pc:sldMkLst>
          <pc:docMk/>
          <pc:sldMk cId="0" sldId="257"/>
        </pc:sldMkLst>
        <pc:graphicFrameChg chg="modGraphic">
          <ac:chgData name="A Navya sree" userId="1b698cf971f5afae" providerId="LiveId" clId="{DBABD78F-328A-4FCC-BA8A-AE35FA2CBFA5}" dt="2026-06-10T13:05:21.923" v="114" actId="20577"/>
          <ac:graphicFrameMkLst>
            <pc:docMk/>
            <pc:sldMk cId="0" sldId="257"/>
            <ac:graphicFrameMk id="96" creationId="{00000000-0000-0000-0000-000000000000}"/>
          </ac:graphicFrameMkLst>
        </pc:graphicFrameChg>
      </pc:sldChg>
      <pc:sldChg chg="addSp modSp new del mod">
        <pc:chgData name="A Navya sree" userId="1b698cf971f5afae" providerId="LiveId" clId="{DBABD78F-328A-4FCC-BA8A-AE35FA2CBFA5}" dt="2026-06-10T13:03:36.084" v="26" actId="2696"/>
        <pc:sldMkLst>
          <pc:docMk/>
          <pc:sldMk cId="1627294119" sldId="290"/>
        </pc:sldMkLst>
        <pc:spChg chg="mod">
          <ac:chgData name="A Navya sree" userId="1b698cf971f5afae" providerId="LiveId" clId="{DBABD78F-328A-4FCC-BA8A-AE35FA2CBFA5}" dt="2026-06-10T13:03:13.413" v="23" actId="20577"/>
          <ac:spMkLst>
            <pc:docMk/>
            <pc:sldMk cId="1627294119" sldId="290"/>
            <ac:spMk id="2" creationId="{0316CC31-7CAE-5B15-68E1-1775B8E9A31F}"/>
          </ac:spMkLst>
        </pc:spChg>
        <pc:spChg chg="mod">
          <ac:chgData name="A Navya sree" userId="1b698cf971f5afae" providerId="LiveId" clId="{DBABD78F-328A-4FCC-BA8A-AE35FA2CBFA5}" dt="2026-06-10T13:03:24.456" v="25" actId="14100"/>
          <ac:spMkLst>
            <pc:docMk/>
            <pc:sldMk cId="1627294119" sldId="290"/>
            <ac:spMk id="3" creationId="{397AFD60-18A8-82E9-CB15-72D68D311F6E}"/>
          </ac:spMkLst>
        </pc:spChg>
        <pc:picChg chg="add mod">
          <ac:chgData name="A Navya sree" userId="1b698cf971f5afae" providerId="LiveId" clId="{DBABD78F-328A-4FCC-BA8A-AE35FA2CBFA5}" dt="2026-06-10T13:03:24.456" v="25" actId="14100"/>
          <ac:picMkLst>
            <pc:docMk/>
            <pc:sldMk cId="1627294119" sldId="290"/>
            <ac:picMk id="1026" creationId="{5EA7D188-2B6E-0E07-D3F6-9E334A9CADFB}"/>
          </ac:picMkLst>
        </pc:picChg>
      </pc:sldChg>
      <pc:sldChg chg="addSp delSp modSp add mod">
        <pc:chgData name="A Navya sree" userId="1b698cf971f5afae" providerId="LiveId" clId="{DBABD78F-328A-4FCC-BA8A-AE35FA2CBFA5}" dt="2026-06-10T13:04:49.386" v="84" actId="14100"/>
        <pc:sldMkLst>
          <pc:docMk/>
          <pc:sldMk cId="3097850178" sldId="290"/>
        </pc:sldMkLst>
        <pc:spChg chg="mod">
          <ac:chgData name="A Navya sree" userId="1b698cf971f5afae" providerId="LiveId" clId="{DBABD78F-328A-4FCC-BA8A-AE35FA2CBFA5}" dt="2026-06-10T13:04:40.690" v="82" actId="207"/>
          <ac:spMkLst>
            <pc:docMk/>
            <pc:sldMk cId="3097850178" sldId="290"/>
            <ac:spMk id="2" creationId="{34DBE4D1-D72A-A6C4-622A-FF1208455682}"/>
          </ac:spMkLst>
        </pc:spChg>
        <pc:picChg chg="del">
          <ac:chgData name="A Navya sree" userId="1b698cf971f5afae" providerId="LiveId" clId="{DBABD78F-328A-4FCC-BA8A-AE35FA2CBFA5}" dt="2026-06-10T13:03:59.148" v="29" actId="21"/>
          <ac:picMkLst>
            <pc:docMk/>
            <pc:sldMk cId="3097850178" sldId="290"/>
            <ac:picMk id="4" creationId="{324F28AB-9BEB-C746-90AD-8657C9F9957C}"/>
          </ac:picMkLst>
        </pc:picChg>
        <pc:picChg chg="add del">
          <ac:chgData name="A Navya sree" userId="1b698cf971f5afae" providerId="LiveId" clId="{DBABD78F-328A-4FCC-BA8A-AE35FA2CBFA5}" dt="2026-06-10T13:04:02.156" v="31" actId="478"/>
          <ac:picMkLst>
            <pc:docMk/>
            <pc:sldMk cId="3097850178" sldId="290"/>
            <ac:picMk id="5" creationId="{0C1B8F71-C08B-3B6F-54DB-5195B39614C6}"/>
          </ac:picMkLst>
        </pc:picChg>
        <pc:picChg chg="del">
          <ac:chgData name="A Navya sree" userId="1b698cf971f5afae" providerId="LiveId" clId="{DBABD78F-328A-4FCC-BA8A-AE35FA2CBFA5}" dt="2026-06-10T13:03:57.014" v="28" actId="21"/>
          <ac:picMkLst>
            <pc:docMk/>
            <pc:sldMk cId="3097850178" sldId="290"/>
            <ac:picMk id="7" creationId="{6BB08F0E-1545-ECAC-B12E-B677A53A732E}"/>
          </ac:picMkLst>
        </pc:picChg>
        <pc:picChg chg="add mod">
          <ac:chgData name="A Navya sree" userId="1b698cf971f5afae" providerId="LiveId" clId="{DBABD78F-328A-4FCC-BA8A-AE35FA2CBFA5}" dt="2026-06-10T13:04:49.386" v="84" actId="14100"/>
          <ac:picMkLst>
            <pc:docMk/>
            <pc:sldMk cId="3097850178" sldId="290"/>
            <ac:picMk id="2050" creationId="{BD462C4C-68CD-6D65-99F6-EF0775F8ED9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0B384C-61B0-FE5C-4871-8961F84B9351}"/>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CDDF203-4C8B-A2C2-B9D1-CA26C7A30F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D5156D0-A2CB-A268-EB0E-AA4FB2330D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3720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F535AE94-B782-D96C-6937-4B0A69DBA92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68A990A5-FF42-4407-7461-BCBCCEE53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EDBCE04-D3A4-0AEE-A746-E5A95FD4BF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8009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avya-1104-reddy/Edunet_Project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3600238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err="1"/>
                        <a:t>Akkireddy</a:t>
                      </a:r>
                      <a:r>
                        <a:rPr lang="en-US" dirty="0"/>
                        <a:t> Gari Kavya Sree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reddykavya1104@gmail.com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9390327967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Lifestyle (Food &amp; Nutrition)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[Recipe Preparation Agent] </a:t>
            </a:r>
            <a:endParaRPr lang="en-IN" sz="2400" b="1" dirty="0">
              <a:highlight>
                <a:srgbClr val="FFFF00"/>
              </a:highlight>
            </a:endParaRPr>
          </a:p>
        </p:txBody>
      </p:sp>
      <p:pic>
        <p:nvPicPr>
          <p:cNvPr id="8" name="Picture 7">
            <a:extLst>
              <a:ext uri="{FF2B5EF4-FFF2-40B4-BE49-F238E27FC236}">
                <a16:creationId xmlns:a16="http://schemas.microsoft.com/office/drawing/2014/main" id="{99622366-CD86-34BF-CAC4-BC42A2526C36}"/>
              </a:ext>
            </a:extLst>
          </p:cNvPr>
          <p:cNvPicPr>
            <a:picLocks noChangeAspect="1"/>
          </p:cNvPicPr>
          <p:nvPr/>
        </p:nvPicPr>
        <p:blipFill>
          <a:blip r:embed="rId3"/>
          <a:stretch>
            <a:fillRect/>
          </a:stretch>
        </p:blipFill>
        <p:spPr>
          <a:xfrm>
            <a:off x="3657600" y="3597639"/>
            <a:ext cx="1813810" cy="1169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69823" y="596127"/>
            <a:ext cx="11617377" cy="649408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The Challenge:</a:t>
            </a:r>
          </a:p>
          <a:p>
            <a:r>
              <a:rPr lang="en-US" sz="1800" dirty="0">
                <a:latin typeface="Times New Roman" panose="02020603050405020304" pitchFamily="18" charset="0"/>
                <a:cs typeface="Times New Roman" panose="02020603050405020304" pitchFamily="18" charset="0"/>
              </a:rPr>
              <a:t>Many individuals struggle with cooking meals when they only have limited ingredients available at home. Searching for recipes online often requires exact matches, leading to wasted time and food. Existing solutions rarely adapt recipes to ingredient constraints, dietary preferences, or cultural variations. Without intelligent guidance, users either abandon cooking or waste resources by buying extra items unnecessarily.</a:t>
            </a:r>
          </a:p>
          <a:p>
            <a:r>
              <a:rPr lang="en-US" sz="2000" b="1" dirty="0">
                <a:latin typeface="Times New Roman" panose="02020603050405020304" pitchFamily="18" charset="0"/>
                <a:cs typeface="Times New Roman" panose="02020603050405020304" pitchFamily="18" charset="0"/>
              </a:rPr>
              <a:t>The Objective:</a:t>
            </a:r>
          </a:p>
          <a:p>
            <a:r>
              <a:rPr lang="en-US" sz="1800" dirty="0">
                <a:latin typeface="Times New Roman" panose="02020603050405020304" pitchFamily="18" charset="0"/>
                <a:cs typeface="Times New Roman" panose="02020603050405020304" pitchFamily="18" charset="0"/>
              </a:rPr>
              <a:t>Build an AI-powered Recipe Preparation Agent that helps users cook meals using only the ingredients they already have. The solution should:</a:t>
            </a:r>
          </a:p>
          <a:p>
            <a:r>
              <a:rPr lang="en-US" sz="1800" dirty="0">
                <a:latin typeface="Times New Roman" panose="02020603050405020304" pitchFamily="18" charset="0"/>
                <a:cs typeface="Times New Roman" panose="02020603050405020304" pitchFamily="18" charset="0"/>
              </a:rPr>
              <a:t>Ingredient-Based Recipe Suggestions – Generate recipes tailored to the groceries user input.</a:t>
            </a:r>
          </a:p>
          <a:p>
            <a:r>
              <a:rPr lang="en-US" sz="1800" dirty="0">
                <a:latin typeface="Times New Roman" panose="02020603050405020304" pitchFamily="18" charset="0"/>
                <a:cs typeface="Times New Roman" panose="02020603050405020304" pitchFamily="18" charset="0"/>
              </a:rPr>
              <a:t>RAG Retrieval of Recipes – Fetch and adapt recipes from trusted cooking databases and food blogs.</a:t>
            </a:r>
          </a:p>
          <a:p>
            <a:r>
              <a:rPr lang="en-US" sz="1800" dirty="0">
                <a:latin typeface="Times New Roman" panose="02020603050405020304" pitchFamily="18" charset="0"/>
                <a:cs typeface="Times New Roman" panose="02020603050405020304" pitchFamily="18" charset="0"/>
              </a:rPr>
              <a:t>Substitution &amp; Adaptation – Suggest alternatives when ingredients are missing (e.g., “use yogurt instead of cream”).</a:t>
            </a:r>
          </a:p>
          <a:p>
            <a:r>
              <a:rPr lang="en-US" sz="1800" dirty="0">
                <a:latin typeface="Times New Roman" panose="02020603050405020304" pitchFamily="18" charset="0"/>
                <a:cs typeface="Times New Roman" panose="02020603050405020304" pitchFamily="18" charset="0"/>
              </a:rPr>
              <a:t>Dietary &amp; Cultural Preferences – Adjust recipes for vegetarian, vegan, gluten-free, or regional cuisines.</a:t>
            </a:r>
          </a:p>
          <a:p>
            <a:r>
              <a:rPr lang="en-US" sz="1800" dirty="0">
                <a:latin typeface="Times New Roman" panose="02020603050405020304" pitchFamily="18" charset="0"/>
                <a:cs typeface="Times New Roman" panose="02020603050405020304" pitchFamily="18" charset="0"/>
              </a:rPr>
              <a:t>Step-by-Step Cooking Guidance – Provide clear instructions with cooking tips and timing.</a:t>
            </a:r>
          </a:p>
          <a:p>
            <a:r>
              <a:rPr lang="en-US" sz="1800" dirty="0">
                <a:latin typeface="Times New Roman" panose="02020603050405020304" pitchFamily="18" charset="0"/>
                <a:cs typeface="Times New Roman" panose="02020603050405020304" pitchFamily="18" charset="0"/>
              </a:rPr>
              <a:t>Food Waste Reduction – Encourage sustainable cooking by maximizing use of available pantry items.</a:t>
            </a:r>
          </a:p>
          <a:p>
            <a:r>
              <a:rPr lang="en-US" sz="2000" b="1" dirty="0">
                <a:latin typeface="Times New Roman" panose="02020603050405020304" pitchFamily="18" charset="0"/>
                <a:cs typeface="Times New Roman" panose="02020603050405020304" pitchFamily="18" charset="0"/>
              </a:rPr>
              <a:t>Multi-Agent System:</a:t>
            </a:r>
          </a:p>
          <a:p>
            <a:r>
              <a:rPr lang="en-US" sz="1800" dirty="0">
                <a:latin typeface="Times New Roman" panose="02020603050405020304" pitchFamily="18" charset="0"/>
                <a:cs typeface="Times New Roman" panose="02020603050405020304" pitchFamily="18" charset="0"/>
              </a:rPr>
              <a:t>Recipe Retrieval Agent – Finds and summarizes relevant recipes.</a:t>
            </a:r>
          </a:p>
          <a:p>
            <a:r>
              <a:rPr lang="en-US" sz="1800" dirty="0">
                <a:latin typeface="Times New Roman" panose="02020603050405020304" pitchFamily="18" charset="0"/>
                <a:cs typeface="Times New Roman" panose="02020603050405020304" pitchFamily="18" charset="0"/>
              </a:rPr>
              <a:t>Ingredient Adaptation Agent – Suggests substitutions and modifications.</a:t>
            </a:r>
          </a:p>
          <a:p>
            <a:r>
              <a:rPr lang="en-US" sz="1800" dirty="0">
                <a:latin typeface="Times New Roman" panose="02020603050405020304" pitchFamily="18" charset="0"/>
                <a:cs typeface="Times New Roman" panose="02020603050405020304" pitchFamily="18" charset="0"/>
              </a:rPr>
              <a:t>Dietary Preference Agent – Personalizes recipes based on health or cultural needs.</a:t>
            </a:r>
          </a:p>
          <a:p>
            <a:r>
              <a:rPr lang="en-US" sz="1800" dirty="0">
                <a:latin typeface="Times New Roman" panose="02020603050405020304" pitchFamily="18" charset="0"/>
                <a:cs typeface="Times New Roman" panose="02020603050405020304" pitchFamily="18" charset="0"/>
              </a:rPr>
              <a:t>Cooking Instruction Agent – Generates step-by-step guidance for preparation.</a:t>
            </a:r>
          </a:p>
          <a:p>
            <a:r>
              <a:rPr lang="en-US" sz="2000" b="1" dirty="0">
                <a:latin typeface="Times New Roman" panose="02020603050405020304" pitchFamily="18" charset="0"/>
                <a:cs typeface="Times New Roman" panose="02020603050405020304" pitchFamily="18" charset="0"/>
              </a:rPr>
              <a:t>Visualization Dashboard:</a:t>
            </a:r>
          </a:p>
          <a:p>
            <a:r>
              <a:rPr lang="en-US" sz="1800" dirty="0">
                <a:latin typeface="Times New Roman" panose="02020603050405020304" pitchFamily="18" charset="0"/>
                <a:cs typeface="Times New Roman" panose="02020603050405020304" pitchFamily="18" charset="0"/>
              </a:rPr>
              <a:t>Show recipe options, preparation steps, cooking time, and nutritional highlights.</a:t>
            </a:r>
          </a:p>
          <a:p>
            <a:r>
              <a:rPr lang="en-US" sz="1800" dirty="0">
                <a:latin typeface="Times New Roman" panose="02020603050405020304" pitchFamily="18" charset="0"/>
                <a:cs typeface="Times New Roman" panose="02020603050405020304" pitchFamily="18" charset="0"/>
              </a:rPr>
              <a:t>Track saved recipes and user feedback for continuous improvement.</a:t>
            </a:r>
          </a:p>
          <a:p>
            <a:pPr fontAlgn="base"/>
            <a:endParaRPr lang="en-US"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04800" y="134462"/>
            <a:ext cx="9558728"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rPr>
              <a:t>Problem Statement – Recipe Preparation Agent</a:t>
            </a:r>
            <a:endParaRPr lang="en-IN" sz="28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44590" y="1411660"/>
            <a:ext cx="10607040" cy="5940088"/>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Tech Stack:</a:t>
            </a:r>
          </a:p>
          <a:p>
            <a:r>
              <a:rPr lang="en-US" sz="2800" b="1" dirty="0">
                <a:latin typeface="Times New Roman" panose="02020603050405020304" pitchFamily="18" charset="0"/>
                <a:cs typeface="Times New Roman" panose="02020603050405020304" pitchFamily="18" charset="0"/>
              </a:rPr>
              <a:t>IBM </a:t>
            </a:r>
            <a:r>
              <a:rPr lang="en-US" sz="2800" b="1" dirty="0" err="1">
                <a:latin typeface="Times New Roman" panose="02020603050405020304" pitchFamily="18" charset="0"/>
                <a:cs typeface="Times New Roman" panose="02020603050405020304" pitchFamily="18" charset="0"/>
              </a:rPr>
              <a:t>watsonx</a:t>
            </a:r>
            <a:r>
              <a:rPr lang="en-US" sz="2800" b="1" dirty="0">
                <a:latin typeface="Times New Roman" panose="02020603050405020304" pitchFamily="18" charset="0"/>
                <a:cs typeface="Times New Roman" panose="02020603050405020304" pitchFamily="18" charset="0"/>
              </a:rPr>
              <a:t> Orchestrate</a:t>
            </a:r>
            <a:r>
              <a:rPr lang="en-US" sz="2800" dirty="0">
                <a:latin typeface="Times New Roman" panose="02020603050405020304" pitchFamily="18" charset="0"/>
                <a:cs typeface="Times New Roman" panose="02020603050405020304" pitchFamily="18" charset="0"/>
              </a:rPr>
              <a:t> – The core technology used to design, deploy, and manage the Recipe Agent. It provides a unified orchestration layer that connects profile, knowledge, toolset, and behavior modules into a single intelligent agent.</a:t>
            </a:r>
          </a:p>
          <a:p>
            <a:r>
              <a:rPr lang="en-US" sz="2800" b="1" dirty="0">
                <a:latin typeface="Times New Roman" panose="02020603050405020304" pitchFamily="18" charset="0"/>
                <a:cs typeface="Times New Roman" panose="02020603050405020304" pitchFamily="18" charset="0"/>
              </a:rPr>
              <a:t>Embedded Agent Interface</a:t>
            </a:r>
            <a:r>
              <a:rPr lang="en-US" sz="2800" dirty="0">
                <a:latin typeface="Times New Roman" panose="02020603050405020304" pitchFamily="18" charset="0"/>
                <a:cs typeface="Times New Roman" panose="02020603050405020304" pitchFamily="18" charset="0"/>
              </a:rPr>
              <a:t> – Allows the Recipe Agent to be integrated into websites or applications using JavaScript embed code.</a:t>
            </a:r>
          </a:p>
          <a:p>
            <a:r>
              <a:rPr lang="en-US" sz="2800" b="1" dirty="0">
                <a:latin typeface="Times New Roman" panose="02020603050405020304" pitchFamily="18" charset="0"/>
                <a:cs typeface="Times New Roman" panose="02020603050405020304" pitchFamily="18" charset="0"/>
              </a:rPr>
              <a:t>Conversational AI Workflow</a:t>
            </a:r>
            <a:r>
              <a:rPr lang="en-US" sz="2800" dirty="0">
                <a:latin typeface="Times New Roman" panose="02020603050405020304" pitchFamily="18" charset="0"/>
                <a:cs typeface="Times New Roman" panose="02020603050405020304" pitchFamily="18" charset="0"/>
              </a:rPr>
              <a:t> – Powers recipe retrieval, adaptation, and generation through structured orchestration of agent behaviors.</a:t>
            </a:r>
          </a:p>
          <a:p>
            <a:r>
              <a:rPr lang="en-US" sz="3600" b="1" dirty="0">
                <a:latin typeface="Times New Roman" panose="02020603050405020304" pitchFamily="18" charset="0"/>
                <a:cs typeface="Times New Roman" panose="02020603050405020304" pitchFamily="18" charset="0"/>
              </a:rPr>
              <a:t>Tech Stack Used:</a:t>
            </a:r>
          </a:p>
          <a:p>
            <a:r>
              <a:rPr lang="en-US" sz="2800" dirty="0">
                <a:latin typeface="Times New Roman" panose="02020603050405020304" pitchFamily="18" charset="0"/>
                <a:cs typeface="Times New Roman" panose="02020603050405020304" pitchFamily="18" charset="0"/>
              </a:rPr>
              <a:t>IBM </a:t>
            </a:r>
            <a:r>
              <a:rPr lang="en-US" sz="2800" dirty="0" err="1">
                <a:latin typeface="Times New Roman" panose="02020603050405020304" pitchFamily="18" charset="0"/>
                <a:cs typeface="Times New Roman" panose="02020603050405020304" pitchFamily="18" charset="0"/>
              </a:rPr>
              <a:t>watsonx</a:t>
            </a:r>
            <a:r>
              <a:rPr lang="en-US" sz="2800" dirty="0">
                <a:latin typeface="Times New Roman" panose="02020603050405020304" pitchFamily="18" charset="0"/>
                <a:cs typeface="Times New Roman" panose="02020603050405020304" pitchFamily="18" charset="0"/>
              </a:rPr>
              <a:t> Orchestrate</a:t>
            </a:r>
          </a:p>
          <a:p>
            <a:endParaRPr lang="en-IN" dirty="0"/>
          </a:p>
          <a:p>
            <a:pPr fontAlgn="base"/>
            <a:endParaRPr lang="en-IN" dirty="0"/>
          </a:p>
          <a:p>
            <a:pPr fontAlgn="base"/>
            <a:endParaRPr lang="en-US" dirty="0"/>
          </a:p>
          <a:p>
            <a:endParaRPr lang="en-IN" dirty="0"/>
          </a:p>
        </p:txBody>
      </p:sp>
      <p:sp>
        <p:nvSpPr>
          <p:cNvPr id="9" name="TextBox 8">
            <a:extLst>
              <a:ext uri="{FF2B5EF4-FFF2-40B4-BE49-F238E27FC236}">
                <a16:creationId xmlns:a16="http://schemas.microsoft.com/office/drawing/2014/main" id="{67380BE6-3347-A51F-51FD-7BD54A297651}"/>
              </a:ext>
            </a:extLst>
          </p:cNvPr>
          <p:cNvSpPr txBox="1"/>
          <p:nvPr/>
        </p:nvSpPr>
        <p:spPr>
          <a:xfrm>
            <a:off x="544590" y="479685"/>
            <a:ext cx="5291530" cy="769441"/>
          </a:xfrm>
          <a:prstGeom prst="rect">
            <a:avLst/>
          </a:prstGeom>
          <a:noFill/>
        </p:spPr>
        <p:txBody>
          <a:bodyPr wrap="square" rtlCol="0">
            <a:spAutoFit/>
          </a:bodyPr>
          <a:lstStyle/>
          <a:p>
            <a:r>
              <a:rPr lang="en-US" sz="4400" b="1" dirty="0">
                <a:solidFill>
                  <a:schemeClr val="accent2">
                    <a:lumMod val="75000"/>
                  </a:schemeClr>
                </a:solidFill>
                <a:latin typeface="Times New Roman" panose="02020603050405020304" pitchFamily="18" charset="0"/>
                <a:cs typeface="Times New Roman" panose="02020603050405020304" pitchFamily="18" charset="0"/>
              </a:rPr>
              <a:t>Technology Used:</a:t>
            </a:r>
            <a:endParaRPr lang="en-US"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0" y="735602"/>
            <a:ext cx="12320337" cy="624786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proposed solution is a streamlined AI‑powered </a:t>
            </a:r>
            <a:r>
              <a:rPr lang="en-US" sz="2000" b="1" dirty="0">
                <a:latin typeface="Times New Roman" panose="02020603050405020304" pitchFamily="18" charset="0"/>
                <a:cs typeface="Times New Roman" panose="02020603050405020304" pitchFamily="18" charset="0"/>
              </a:rPr>
              <a:t>Recipe Preparation Agent</a:t>
            </a:r>
            <a:r>
              <a:rPr lang="en-US" sz="2000" dirty="0">
                <a:latin typeface="Times New Roman" panose="02020603050405020304" pitchFamily="18" charset="0"/>
                <a:cs typeface="Times New Roman" panose="02020603050405020304" pitchFamily="18" charset="0"/>
              </a:rPr>
              <a:t> built using </a:t>
            </a:r>
            <a:r>
              <a:rPr lang="en-US" sz="2000" b="1" dirty="0">
                <a:latin typeface="Times New Roman" panose="02020603050405020304" pitchFamily="18" charset="0"/>
                <a:cs typeface="Times New Roman" panose="02020603050405020304" pitchFamily="18" charset="0"/>
              </a:rPr>
              <a:t>IBM </a:t>
            </a:r>
            <a:r>
              <a:rPr lang="en-US" sz="2000" b="1" dirty="0" err="1">
                <a:latin typeface="Times New Roman" panose="02020603050405020304" pitchFamily="18" charset="0"/>
                <a:cs typeface="Times New Roman" panose="02020603050405020304" pitchFamily="18" charset="0"/>
              </a:rPr>
              <a:t>watsonx</a:t>
            </a:r>
            <a:r>
              <a:rPr lang="en-US" sz="2000" b="1" dirty="0">
                <a:latin typeface="Times New Roman" panose="02020603050405020304" pitchFamily="18" charset="0"/>
                <a:cs typeface="Times New Roman" panose="02020603050405020304" pitchFamily="18" charset="0"/>
              </a:rPr>
              <a:t> Orchestrate</a:t>
            </a:r>
            <a:r>
              <a:rPr lang="en-US" sz="2000" dirty="0">
                <a:latin typeface="Times New Roman" panose="02020603050405020304" pitchFamily="18" charset="0"/>
                <a:cs typeface="Times New Roman" panose="02020603050405020304" pitchFamily="18" charset="0"/>
              </a:rPr>
              <a:t> to provide intelligent, real‑time cooking guidance. The system focuses on addressing challenges in meal preparation, ingredient limitations, and food waste reduction through a simple but effective orchestration architecture.</a:t>
            </a:r>
          </a:p>
          <a:p>
            <a:r>
              <a:rPr lang="en-US" sz="2000" dirty="0">
                <a:latin typeface="Times New Roman" panose="02020603050405020304" pitchFamily="18" charset="0"/>
                <a:cs typeface="Times New Roman" panose="02020603050405020304" pitchFamily="18" charset="0"/>
              </a:rPr>
              <a:t>At its core, the solution uses </a:t>
            </a:r>
            <a:r>
              <a:rPr lang="en-US" sz="2000" b="1" dirty="0">
                <a:latin typeface="Times New Roman" panose="02020603050405020304" pitchFamily="18" charset="0"/>
                <a:cs typeface="Times New Roman" panose="02020603050405020304" pitchFamily="18" charset="0"/>
              </a:rPr>
              <a:t>Orchestrate</a:t>
            </a:r>
            <a:r>
              <a:rPr lang="en-US" sz="2000" dirty="0">
                <a:latin typeface="Times New Roman" panose="02020603050405020304" pitchFamily="18" charset="0"/>
                <a:cs typeface="Times New Roman" panose="02020603050405020304" pitchFamily="18" charset="0"/>
              </a:rPr>
              <a:t> to connect user queries with the Recipe Agent’s knowledge and toolset. This setup allows the agent to process requests, reason about available ingredients, and generate recipe suggestions or cooking steps directly.</a:t>
            </a:r>
          </a:p>
          <a:p>
            <a:r>
              <a:rPr lang="en-US" sz="2000" b="1" dirty="0">
                <a:latin typeface="Times New Roman" panose="02020603050405020304" pitchFamily="18" charset="0"/>
                <a:cs typeface="Times New Roman" panose="02020603050405020304" pitchFamily="18" charset="0"/>
              </a:rPr>
              <a:t>System Flow:</a:t>
            </a:r>
          </a:p>
          <a:p>
            <a:r>
              <a:rPr lang="en-US" sz="2000" dirty="0">
                <a:latin typeface="Times New Roman" panose="02020603050405020304" pitchFamily="18" charset="0"/>
                <a:cs typeface="Times New Roman" panose="02020603050405020304" pitchFamily="18" charset="0"/>
              </a:rPr>
              <a:t>User Query (Chat Input) – Users enter their available ingredients or recipe queries.</a:t>
            </a:r>
          </a:p>
          <a:p>
            <a:r>
              <a:rPr lang="en-US" sz="2000" dirty="0">
                <a:latin typeface="Times New Roman" panose="02020603050405020304" pitchFamily="18" charset="0"/>
                <a:cs typeface="Times New Roman" panose="02020603050405020304" pitchFamily="18" charset="0"/>
              </a:rPr>
              <a:t>IBM </a:t>
            </a:r>
            <a:r>
              <a:rPr lang="en-US" sz="2000" dirty="0" err="1">
                <a:latin typeface="Times New Roman" panose="02020603050405020304" pitchFamily="18" charset="0"/>
                <a:cs typeface="Times New Roman" panose="02020603050405020304" pitchFamily="18" charset="0"/>
              </a:rPr>
              <a:t>watsonx</a:t>
            </a:r>
            <a:r>
              <a:rPr lang="en-US" sz="2000" dirty="0">
                <a:latin typeface="Times New Roman" panose="02020603050405020304" pitchFamily="18" charset="0"/>
                <a:cs typeface="Times New Roman" panose="02020603050405020304" pitchFamily="18" charset="0"/>
              </a:rPr>
              <a:t> Orchestrate – Manages the workflow, applies reasoning, and coordinates the agent’s behavior.</a:t>
            </a:r>
          </a:p>
          <a:p>
            <a:r>
              <a:rPr lang="en-US" sz="2000" dirty="0">
                <a:latin typeface="Times New Roman" panose="02020603050405020304" pitchFamily="18" charset="0"/>
                <a:cs typeface="Times New Roman" panose="02020603050405020304" pitchFamily="18" charset="0"/>
              </a:rPr>
              <a:t>Recipe Agent Response (Chat Output) – Delivers clear, step‑by‑step cooking guidance back to the user.</a:t>
            </a:r>
          </a:p>
          <a:p>
            <a:r>
              <a:rPr lang="en-US" sz="2000" b="1" dirty="0">
                <a:latin typeface="Times New Roman" panose="02020603050405020304" pitchFamily="18" charset="0"/>
                <a:cs typeface="Times New Roman" panose="02020603050405020304" pitchFamily="18" charset="0"/>
              </a:rPr>
              <a:t>Technology Role:</a:t>
            </a:r>
          </a:p>
          <a:p>
            <a:r>
              <a:rPr lang="en-US" sz="2000" dirty="0">
                <a:latin typeface="Times New Roman" panose="02020603050405020304" pitchFamily="18" charset="0"/>
                <a:cs typeface="Times New Roman" panose="02020603050405020304" pitchFamily="18" charset="0"/>
              </a:rPr>
              <a:t>IBM </a:t>
            </a:r>
            <a:r>
              <a:rPr lang="en-US" sz="2000" dirty="0" err="1">
                <a:latin typeface="Times New Roman" panose="02020603050405020304" pitchFamily="18" charset="0"/>
                <a:cs typeface="Times New Roman" panose="02020603050405020304" pitchFamily="18" charset="0"/>
              </a:rPr>
              <a:t>watsonx</a:t>
            </a:r>
            <a:r>
              <a:rPr lang="en-US" sz="2000" dirty="0">
                <a:latin typeface="Times New Roman" panose="02020603050405020304" pitchFamily="18" charset="0"/>
                <a:cs typeface="Times New Roman" panose="02020603050405020304" pitchFamily="18" charset="0"/>
              </a:rPr>
              <a:t> Orchestrate – Provides the orchestration environment, connecting profile, knowledge, toolset, and behavior modules into a single intelligent agent.</a:t>
            </a:r>
          </a:p>
          <a:p>
            <a:r>
              <a:rPr lang="en-US" sz="2000" dirty="0">
                <a:latin typeface="Times New Roman" panose="02020603050405020304" pitchFamily="18" charset="0"/>
                <a:cs typeface="Times New Roman" panose="02020603050405020304" pitchFamily="18" charset="0"/>
              </a:rPr>
              <a:t>Embedded Agent Interface – Enables integration into websites or applications via JavaScript embed code.</a:t>
            </a:r>
          </a:p>
          <a:p>
            <a:r>
              <a:rPr lang="en-US" sz="2000" dirty="0">
                <a:latin typeface="Times New Roman" panose="02020603050405020304" pitchFamily="18" charset="0"/>
                <a:cs typeface="Times New Roman" panose="02020603050405020304" pitchFamily="18" charset="0"/>
              </a:rPr>
              <a:t>Conversational AI Workflow – Powers recipe retrieval, adaptation, and generation through structured orchestration.</a:t>
            </a:r>
          </a:p>
          <a:p>
            <a:r>
              <a:rPr lang="en-US" sz="2000" b="1" dirty="0">
                <a:latin typeface="Times New Roman" panose="02020603050405020304" pitchFamily="18" charset="0"/>
                <a:cs typeface="Times New Roman" panose="02020603050405020304" pitchFamily="18" charset="0"/>
              </a:rPr>
              <a:t>Outcome:</a:t>
            </a:r>
          </a:p>
          <a:p>
            <a:r>
              <a:rPr lang="en-US" sz="2000" dirty="0">
                <a:latin typeface="Times New Roman" panose="02020603050405020304" pitchFamily="18" charset="0"/>
                <a:cs typeface="Times New Roman" panose="02020603050405020304" pitchFamily="18" charset="0"/>
              </a:rPr>
              <a:t>This solution demonstrates how even a minimal orchestration pipeline (</a:t>
            </a:r>
            <a:r>
              <a:rPr lang="en-US" sz="2000" i="1" dirty="0">
                <a:latin typeface="Times New Roman" panose="02020603050405020304" pitchFamily="18" charset="0"/>
                <a:cs typeface="Times New Roman" panose="02020603050405020304" pitchFamily="18" charset="0"/>
              </a:rPr>
              <a:t>User Query → Orchestrate → Recipe Agent → Response</a:t>
            </a:r>
            <a:r>
              <a:rPr lang="en-US" sz="2000" dirty="0">
                <a:latin typeface="Times New Roman" panose="02020603050405020304" pitchFamily="18" charset="0"/>
                <a:cs typeface="Times New Roman" panose="02020603050405020304" pitchFamily="18" charset="0"/>
              </a:rPr>
              <a:t>) can deliver intelligent recipe assistance, reduce food waste, and make everyday meal preparation smarter and easier.</a:t>
            </a:r>
            <a:endParaRPr lang="en-US"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224852" y="208142"/>
            <a:ext cx="11437496" cy="584775"/>
          </a:xfrm>
          <a:prstGeom prst="rect">
            <a:avLst/>
          </a:prstGeom>
          <a:noFill/>
        </p:spPr>
        <p:txBody>
          <a:bodyPr wrap="square" rtlCol="0">
            <a:spAutoFit/>
          </a:bodyPr>
          <a:lstStyle/>
          <a:p>
            <a:r>
              <a:rPr lang="en-US" sz="3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Proposed Solution – AI Powered Recipe Preparation Agent</a:t>
            </a:r>
            <a:endParaRPr lang="en-IN" sz="3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9AF8C-9560-9F0F-753C-22038B6E970D}"/>
              </a:ext>
            </a:extLst>
          </p:cNvPr>
          <p:cNvSpPr>
            <a:spLocks noGrp="1"/>
          </p:cNvSpPr>
          <p:nvPr>
            <p:ph type="title"/>
          </p:nvPr>
        </p:nvSpPr>
        <p:spPr>
          <a:xfrm>
            <a:off x="838200" y="365126"/>
            <a:ext cx="10515600" cy="789118"/>
          </a:xfrm>
        </p:spPr>
        <p:txBody>
          <a:bodyPr/>
          <a:lstStyle/>
          <a:p>
            <a:r>
              <a:rPr lang="en-US"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Orchestrate Components Used:</a:t>
            </a:r>
          </a:p>
        </p:txBody>
      </p:sp>
      <p:sp>
        <p:nvSpPr>
          <p:cNvPr id="3" name="Text Placeholder 2">
            <a:extLst>
              <a:ext uri="{FF2B5EF4-FFF2-40B4-BE49-F238E27FC236}">
                <a16:creationId xmlns:a16="http://schemas.microsoft.com/office/drawing/2014/main" id="{490F23DC-C619-8AC0-2C48-FF5C38F9D7D4}"/>
              </a:ext>
            </a:extLst>
          </p:cNvPr>
          <p:cNvSpPr>
            <a:spLocks noGrp="1"/>
          </p:cNvSpPr>
          <p:nvPr>
            <p:ph type="body" idx="1"/>
          </p:nvPr>
        </p:nvSpPr>
        <p:spPr>
          <a:xfrm>
            <a:off x="838200" y="1304144"/>
            <a:ext cx="10515600" cy="4872819"/>
          </a:xfrm>
        </p:spPr>
        <p:txBody>
          <a:bodyPr>
            <a:normAutofit fontScale="62500" lnSpcReduction="20000"/>
          </a:bodyPr>
          <a:lstStyle/>
          <a:p>
            <a:r>
              <a:rPr lang="en-US" sz="5800" b="1" dirty="0">
                <a:latin typeface="Times New Roman" panose="02020603050405020304" pitchFamily="18" charset="0"/>
                <a:cs typeface="Times New Roman" panose="02020603050405020304" pitchFamily="18" charset="0"/>
              </a:rPr>
              <a:t>System Components:</a:t>
            </a:r>
          </a:p>
          <a:p>
            <a:r>
              <a:rPr lang="en-US" sz="3400" b="1" dirty="0">
                <a:latin typeface="Times New Roman" panose="02020603050405020304" pitchFamily="18" charset="0"/>
                <a:cs typeface="Times New Roman" panose="02020603050405020304" pitchFamily="18" charset="0"/>
              </a:rPr>
              <a:t>Chat Input</a:t>
            </a:r>
            <a:r>
              <a:rPr lang="en-US" sz="3400" dirty="0">
                <a:latin typeface="Times New Roman" panose="02020603050405020304" pitchFamily="18" charset="0"/>
                <a:cs typeface="Times New Roman" panose="02020603050405020304" pitchFamily="18" charset="0"/>
              </a:rPr>
              <a:t> – Interface where users enter their available ingredients, preferences, or cooking queries (text/voice).</a:t>
            </a:r>
          </a:p>
          <a:p>
            <a:r>
              <a:rPr lang="en-US" sz="3400" b="1" dirty="0">
                <a:latin typeface="Times New Roman" panose="02020603050405020304" pitchFamily="18" charset="0"/>
                <a:cs typeface="Times New Roman" panose="02020603050405020304" pitchFamily="18" charset="0"/>
              </a:rPr>
              <a:t>IBM </a:t>
            </a:r>
            <a:r>
              <a:rPr lang="en-US" sz="3400" b="1" dirty="0" err="1">
                <a:latin typeface="Times New Roman" panose="02020603050405020304" pitchFamily="18" charset="0"/>
                <a:cs typeface="Times New Roman" panose="02020603050405020304" pitchFamily="18" charset="0"/>
              </a:rPr>
              <a:t>watsonx</a:t>
            </a:r>
            <a:r>
              <a:rPr lang="en-US" sz="3400" b="1" dirty="0">
                <a:latin typeface="Times New Roman" panose="02020603050405020304" pitchFamily="18" charset="0"/>
                <a:cs typeface="Times New Roman" panose="02020603050405020304" pitchFamily="18" charset="0"/>
              </a:rPr>
              <a:t> Orchestrate Agent</a:t>
            </a:r>
            <a:r>
              <a:rPr lang="en-US" sz="3400" dirty="0">
                <a:latin typeface="Times New Roman" panose="02020603050405020304" pitchFamily="18" charset="0"/>
                <a:cs typeface="Times New Roman" panose="02020603050405020304" pitchFamily="18" charset="0"/>
              </a:rPr>
              <a:t> – The core AI agent that processes user input, applies reasoning, and generates personalized recipe suggestions and cooking guidance.</a:t>
            </a:r>
          </a:p>
          <a:p>
            <a:r>
              <a:rPr lang="en-US" sz="3400" b="1" dirty="0">
                <a:latin typeface="Times New Roman" panose="02020603050405020304" pitchFamily="18" charset="0"/>
                <a:cs typeface="Times New Roman" panose="02020603050405020304" pitchFamily="18" charset="0"/>
              </a:rPr>
              <a:t>Chat Output</a:t>
            </a:r>
            <a:r>
              <a:rPr lang="en-US" sz="3400" dirty="0">
                <a:latin typeface="Times New Roman" panose="02020603050405020304" pitchFamily="18" charset="0"/>
                <a:cs typeface="Times New Roman" panose="02020603050405020304" pitchFamily="18" charset="0"/>
              </a:rPr>
              <a:t> – Displays AI‑generated responses such as recipe options, substitutions, and step‑by‑step cooking instructions.</a:t>
            </a:r>
          </a:p>
          <a:p>
            <a:r>
              <a:rPr lang="en-US" sz="3400" b="1" dirty="0">
                <a:latin typeface="Times New Roman" panose="02020603050405020304" pitchFamily="18" charset="0"/>
                <a:cs typeface="Times New Roman" panose="02020603050405020304" pitchFamily="18" charset="0"/>
              </a:rPr>
              <a:t>Profile Module</a:t>
            </a:r>
            <a:r>
              <a:rPr lang="en-US" sz="3400" dirty="0">
                <a:latin typeface="Times New Roman" panose="02020603050405020304" pitchFamily="18" charset="0"/>
                <a:cs typeface="Times New Roman" panose="02020603050405020304" pitchFamily="18" charset="0"/>
              </a:rPr>
              <a:t> – Stores agent identity and configuration details.</a:t>
            </a:r>
          </a:p>
          <a:p>
            <a:r>
              <a:rPr lang="en-US" sz="3400" b="1" dirty="0">
                <a:latin typeface="Times New Roman" panose="02020603050405020304" pitchFamily="18" charset="0"/>
                <a:cs typeface="Times New Roman" panose="02020603050405020304" pitchFamily="18" charset="0"/>
              </a:rPr>
              <a:t>Knowledge Module</a:t>
            </a:r>
            <a:r>
              <a:rPr lang="en-US" sz="3400" dirty="0">
                <a:latin typeface="Times New Roman" panose="02020603050405020304" pitchFamily="18" charset="0"/>
                <a:cs typeface="Times New Roman" panose="02020603050405020304" pitchFamily="18" charset="0"/>
              </a:rPr>
              <a:t> – Holds recipe datasets, cooking tips, and user preferences for reuse.</a:t>
            </a:r>
          </a:p>
          <a:p>
            <a:r>
              <a:rPr lang="en-US" sz="3400" b="1" dirty="0">
                <a:latin typeface="Times New Roman" panose="02020603050405020304" pitchFamily="18" charset="0"/>
                <a:cs typeface="Times New Roman" panose="02020603050405020304" pitchFamily="18" charset="0"/>
              </a:rPr>
              <a:t>Toolset Module</a:t>
            </a:r>
            <a:r>
              <a:rPr lang="en-US" sz="3400" dirty="0">
                <a:latin typeface="Times New Roman" panose="02020603050405020304" pitchFamily="18" charset="0"/>
                <a:cs typeface="Times New Roman" panose="02020603050405020304" pitchFamily="18" charset="0"/>
              </a:rPr>
              <a:t> – Connects external APIs or functions (e.g., recipe retrieval, adaptation logic).</a:t>
            </a:r>
          </a:p>
          <a:p>
            <a:r>
              <a:rPr lang="en-US" sz="3400" b="1" dirty="0">
                <a:latin typeface="Times New Roman" panose="02020603050405020304" pitchFamily="18" charset="0"/>
                <a:cs typeface="Times New Roman" panose="02020603050405020304" pitchFamily="18" charset="0"/>
              </a:rPr>
              <a:t>Behavior Module</a:t>
            </a:r>
            <a:r>
              <a:rPr lang="en-US" sz="3400" dirty="0">
                <a:latin typeface="Times New Roman" panose="02020603050405020304" pitchFamily="18" charset="0"/>
                <a:cs typeface="Times New Roman" panose="02020603050405020304" pitchFamily="18" charset="0"/>
              </a:rPr>
              <a:t> – Defines how the agent responds, adapts recipes, and guides users through cooking steps.</a:t>
            </a:r>
          </a:p>
          <a:p>
            <a:r>
              <a:rPr lang="en-US" sz="3400" b="1" dirty="0">
                <a:latin typeface="Times New Roman" panose="02020603050405020304" pitchFamily="18" charset="0"/>
                <a:cs typeface="Times New Roman" panose="02020603050405020304" pitchFamily="18" charset="0"/>
              </a:rPr>
              <a:t>Channels (Optional)</a:t>
            </a:r>
            <a:r>
              <a:rPr lang="en-US" sz="3400" dirty="0">
                <a:latin typeface="Times New Roman" panose="02020603050405020304" pitchFamily="18" charset="0"/>
                <a:cs typeface="Times New Roman" panose="02020603050405020304" pitchFamily="18" charset="0"/>
              </a:rPr>
              <a:t> – Enables embedding the Recipe Agent into websites or applications via JavaScript code for real‑time interaction.</a:t>
            </a:r>
          </a:p>
          <a:p>
            <a:pPr marL="114300" indent="0">
              <a:buNone/>
            </a:pPr>
            <a:endParaRPr lang="en-US" dirty="0"/>
          </a:p>
        </p:txBody>
      </p:sp>
    </p:spTree>
    <p:extLst>
      <p:ext uri="{BB962C8B-B14F-4D97-AF65-F5344CB8AC3E}">
        <p14:creationId xmlns:p14="http://schemas.microsoft.com/office/powerpoint/2010/main" val="1840616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8"/>
            <a:ext cx="5908929" cy="5461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600" b="1" dirty="0">
                <a:ln w="22225">
                  <a:solidFill>
                    <a:schemeClr val="accent2"/>
                  </a:solidFill>
                  <a:prstDash val="solid"/>
                </a:ln>
                <a:solidFill>
                  <a:schemeClr val="accent2">
                    <a:lumMod val="40000"/>
                    <a:lumOff val="60000"/>
                  </a:schemeClr>
                </a:solidFill>
                <a:latin typeface="Times New Roman" panose="02020603050405020304" pitchFamily="18" charset="0"/>
                <a:ea typeface="Times New Roman"/>
                <a:cs typeface="Times New Roman" panose="02020603050405020304" pitchFamily="18" charset="0"/>
                <a:sym typeface="Times New Roman"/>
              </a:rPr>
              <a:t>Orchestrate</a:t>
            </a:r>
            <a:r>
              <a:rPr lang="en-US" sz="3600" b="1" i="0" u="none" strike="noStrike" dirty="0">
                <a:ln w="22225">
                  <a:solidFill>
                    <a:schemeClr val="accent2"/>
                  </a:solidFill>
                  <a:prstDash val="solid"/>
                </a:ln>
                <a:solidFill>
                  <a:schemeClr val="accent2">
                    <a:lumMod val="40000"/>
                    <a:lumOff val="60000"/>
                  </a:schemeClr>
                </a:solidFill>
                <a:latin typeface="Times New Roman" panose="02020603050405020304" pitchFamily="18" charset="0"/>
                <a:ea typeface="Times New Roman"/>
                <a:cs typeface="Times New Roman" panose="02020603050405020304" pitchFamily="18" charset="0"/>
                <a:sym typeface="Times New Roman"/>
              </a:rPr>
              <a:t> Screenshot</a:t>
            </a:r>
            <a:r>
              <a:rPr lang="en-US" sz="3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sym typeface="Times New Roman"/>
              </a:rPr>
              <a:t>:</a:t>
            </a:r>
            <a:endParaRPr sz="2400" b="1" dirty="0">
              <a:sym typeface="Times New Roman"/>
            </a:endParaRPr>
          </a:p>
        </p:txBody>
      </p:sp>
      <p:pic>
        <p:nvPicPr>
          <p:cNvPr id="5" name="Picture 4">
            <a:extLst>
              <a:ext uri="{FF2B5EF4-FFF2-40B4-BE49-F238E27FC236}">
                <a16:creationId xmlns:a16="http://schemas.microsoft.com/office/drawing/2014/main" id="{C0F776DA-674B-BC77-5F56-EB890F7FF475}"/>
              </a:ext>
            </a:extLst>
          </p:cNvPr>
          <p:cNvPicPr>
            <a:picLocks noChangeAspect="1"/>
          </p:cNvPicPr>
          <p:nvPr/>
        </p:nvPicPr>
        <p:blipFill>
          <a:blip r:embed="rId3"/>
          <a:srcRect t="5202" b="8381"/>
          <a:stretch>
            <a:fillRect/>
          </a:stretch>
        </p:blipFill>
        <p:spPr>
          <a:xfrm>
            <a:off x="537590" y="1334125"/>
            <a:ext cx="10630082" cy="448206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27F88D23-19A8-BF46-A702-AA2DC3F6BA9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F668C1E7-C4A7-3BB0-A58F-F288070BE801}"/>
              </a:ext>
            </a:extLst>
          </p:cNvPr>
          <p:cNvSpPr/>
          <p:nvPr/>
        </p:nvSpPr>
        <p:spPr>
          <a:xfrm>
            <a:off x="537590" y="323238"/>
            <a:ext cx="5908929" cy="5461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600" b="1" dirty="0">
                <a:ln w="22225">
                  <a:solidFill>
                    <a:schemeClr val="accent2"/>
                  </a:solidFill>
                  <a:prstDash val="solid"/>
                </a:ln>
                <a:solidFill>
                  <a:schemeClr val="accent2">
                    <a:lumMod val="40000"/>
                    <a:lumOff val="60000"/>
                  </a:schemeClr>
                </a:solidFill>
                <a:latin typeface="Times New Roman" panose="02020603050405020304" pitchFamily="18" charset="0"/>
                <a:ea typeface="Times New Roman"/>
                <a:cs typeface="Times New Roman" panose="02020603050405020304" pitchFamily="18" charset="0"/>
                <a:sym typeface="Times New Roman"/>
              </a:rPr>
              <a:t>Orchestrate</a:t>
            </a:r>
            <a:r>
              <a:rPr lang="en-US" sz="3600" b="1" i="0" u="none" strike="noStrike" dirty="0">
                <a:ln w="22225">
                  <a:solidFill>
                    <a:schemeClr val="accent2"/>
                  </a:solidFill>
                  <a:prstDash val="solid"/>
                </a:ln>
                <a:solidFill>
                  <a:schemeClr val="accent2">
                    <a:lumMod val="40000"/>
                    <a:lumOff val="60000"/>
                  </a:schemeClr>
                </a:solidFill>
                <a:latin typeface="Times New Roman" panose="02020603050405020304" pitchFamily="18" charset="0"/>
                <a:ea typeface="Times New Roman"/>
                <a:cs typeface="Times New Roman" panose="02020603050405020304" pitchFamily="18" charset="0"/>
                <a:sym typeface="Times New Roman"/>
              </a:rPr>
              <a:t> </a:t>
            </a:r>
            <a:r>
              <a:rPr lang="en-US" sz="3600" b="1" dirty="0">
                <a:ln w="22225">
                  <a:solidFill>
                    <a:schemeClr val="accent2"/>
                  </a:solidFill>
                  <a:prstDash val="solid"/>
                </a:ln>
                <a:solidFill>
                  <a:schemeClr val="accent2">
                    <a:lumMod val="40000"/>
                    <a:lumOff val="60000"/>
                  </a:schemeClr>
                </a:solidFill>
                <a:latin typeface="Times New Roman" panose="02020603050405020304" pitchFamily="18" charset="0"/>
                <a:ea typeface="Times New Roman"/>
                <a:cs typeface="Times New Roman" panose="02020603050405020304" pitchFamily="18" charset="0"/>
                <a:sym typeface="Times New Roman"/>
              </a:rPr>
              <a:t>Screenshots</a:t>
            </a:r>
            <a:r>
              <a:rPr lang="en-US" sz="3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sym typeface="Times New Roman"/>
              </a:rPr>
              <a:t>:</a:t>
            </a:r>
            <a:endParaRPr sz="2400" b="1" dirty="0">
              <a:sym typeface="Times New Roman"/>
            </a:endParaRPr>
          </a:p>
        </p:txBody>
      </p:sp>
      <p:pic>
        <p:nvPicPr>
          <p:cNvPr id="4" name="Picture 3">
            <a:extLst>
              <a:ext uri="{FF2B5EF4-FFF2-40B4-BE49-F238E27FC236}">
                <a16:creationId xmlns:a16="http://schemas.microsoft.com/office/drawing/2014/main" id="{10362FD7-1040-B05F-4D8A-1593CAC39E0F}"/>
              </a:ext>
            </a:extLst>
          </p:cNvPr>
          <p:cNvPicPr>
            <a:picLocks noChangeAspect="1"/>
          </p:cNvPicPr>
          <p:nvPr/>
        </p:nvPicPr>
        <p:blipFill>
          <a:blip r:embed="rId3"/>
          <a:srcRect t="9558" b="6061"/>
          <a:stretch>
            <a:fillRect/>
          </a:stretch>
        </p:blipFill>
        <p:spPr>
          <a:xfrm>
            <a:off x="6654978" y="2083632"/>
            <a:ext cx="4901784" cy="3567659"/>
          </a:xfrm>
          <a:prstGeom prst="rect">
            <a:avLst/>
          </a:prstGeom>
        </p:spPr>
      </p:pic>
      <p:pic>
        <p:nvPicPr>
          <p:cNvPr id="7" name="Picture 6">
            <a:extLst>
              <a:ext uri="{FF2B5EF4-FFF2-40B4-BE49-F238E27FC236}">
                <a16:creationId xmlns:a16="http://schemas.microsoft.com/office/drawing/2014/main" id="{32A45B46-FE89-47ED-66D2-4377631CDA7F}"/>
              </a:ext>
            </a:extLst>
          </p:cNvPr>
          <p:cNvPicPr>
            <a:picLocks noChangeAspect="1"/>
          </p:cNvPicPr>
          <p:nvPr/>
        </p:nvPicPr>
        <p:blipFill>
          <a:blip r:embed="rId4"/>
          <a:srcRect t="10269" b="5450"/>
          <a:stretch>
            <a:fillRect/>
          </a:stretch>
        </p:blipFill>
        <p:spPr>
          <a:xfrm>
            <a:off x="359109" y="2083632"/>
            <a:ext cx="5322163" cy="3567659"/>
          </a:xfrm>
          <a:prstGeom prst="rect">
            <a:avLst/>
          </a:prstGeom>
        </p:spPr>
      </p:pic>
    </p:spTree>
    <p:extLst>
      <p:ext uri="{BB962C8B-B14F-4D97-AF65-F5344CB8AC3E}">
        <p14:creationId xmlns:p14="http://schemas.microsoft.com/office/powerpoint/2010/main" val="2366364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2CEA40C4-DB0D-76A8-6912-47075BC3B697}"/>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34DBE4D1-D72A-A6C4-622A-FF1208455682}"/>
              </a:ext>
            </a:extLst>
          </p:cNvPr>
          <p:cNvSpPr/>
          <p:nvPr/>
        </p:nvSpPr>
        <p:spPr>
          <a:xfrm>
            <a:off x="537590" y="323238"/>
            <a:ext cx="5908929" cy="5461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600" b="1" dirty="0">
                <a:ln w="22225">
                  <a:solidFill>
                    <a:schemeClr val="accent2"/>
                  </a:solidFill>
                  <a:prstDash val="solid"/>
                </a:ln>
                <a:solidFill>
                  <a:schemeClr val="accent4">
                    <a:lumMod val="60000"/>
                    <a:lumOff val="40000"/>
                  </a:schemeClr>
                </a:solidFill>
                <a:latin typeface="Times New Roman" panose="02020603050405020304" pitchFamily="18" charset="0"/>
                <a:cs typeface="Times New Roman" panose="02020603050405020304" pitchFamily="18" charset="0"/>
                <a:sym typeface="Times New Roman"/>
              </a:rPr>
              <a:t>Architecture Blueprint:</a:t>
            </a:r>
            <a:endParaRPr sz="2400" b="1" dirty="0">
              <a:solidFill>
                <a:schemeClr val="accent4">
                  <a:lumMod val="60000"/>
                  <a:lumOff val="40000"/>
                </a:schemeClr>
              </a:solidFill>
              <a:sym typeface="Times New Roman"/>
            </a:endParaRPr>
          </a:p>
        </p:txBody>
      </p:sp>
      <p:pic>
        <p:nvPicPr>
          <p:cNvPr id="2050" name="Picture 2" descr="Recipe Agent Architecture Blueprint">
            <a:extLst>
              <a:ext uri="{FF2B5EF4-FFF2-40B4-BE49-F238E27FC236}">
                <a16:creationId xmlns:a16="http://schemas.microsoft.com/office/drawing/2014/main" id="{BD462C4C-68CD-6D65-99F6-EF0775F8ED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421" y="1334125"/>
            <a:ext cx="10275133" cy="4977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85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9304421" y="1023115"/>
            <a:ext cx="2746094" cy="4523014"/>
          </a:xfrm>
          <a:prstGeom prst="rect">
            <a:avLst/>
          </a:prstGeom>
          <a:noFill/>
          <a:ln>
            <a:noFill/>
          </a:ln>
        </p:spPr>
      </p:pic>
      <p:sp>
        <p:nvSpPr>
          <p:cNvPr id="3" name="TextBox 2">
            <a:extLst>
              <a:ext uri="{FF2B5EF4-FFF2-40B4-BE49-F238E27FC236}">
                <a16:creationId xmlns:a16="http://schemas.microsoft.com/office/drawing/2014/main" id="{322462E8-EB3A-DA7D-44CB-4E757803A755}"/>
              </a:ext>
            </a:extLst>
          </p:cNvPr>
          <p:cNvSpPr txBox="1"/>
          <p:nvPr/>
        </p:nvSpPr>
        <p:spPr>
          <a:xfrm>
            <a:off x="0" y="720735"/>
            <a:ext cx="9304421" cy="634019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Role of Agentic AI in Recipe Agent:</a:t>
            </a:r>
          </a:p>
          <a:p>
            <a:r>
              <a:rPr lang="en-US" sz="1800" dirty="0">
                <a:latin typeface="Times New Roman" panose="02020603050405020304" pitchFamily="18" charset="0"/>
                <a:cs typeface="Times New Roman" panose="02020603050405020304" pitchFamily="18" charset="0"/>
              </a:rPr>
              <a:t>Agentic AI enables the Recipe Preparation Agent to act as an </a:t>
            </a:r>
            <a:r>
              <a:rPr lang="en-US" sz="1800" b="1" dirty="0">
                <a:latin typeface="Times New Roman" panose="02020603050405020304" pitchFamily="18" charset="0"/>
                <a:cs typeface="Times New Roman" panose="02020603050405020304" pitchFamily="18" charset="0"/>
              </a:rPr>
              <a:t>autonomous, intelligent system</a:t>
            </a:r>
            <a:r>
              <a:rPr lang="en-US" sz="1800" dirty="0">
                <a:latin typeface="Times New Roman" panose="02020603050405020304" pitchFamily="18" charset="0"/>
                <a:cs typeface="Times New Roman" panose="02020603050405020304" pitchFamily="18" charset="0"/>
              </a:rPr>
              <a:t> rather than a simple chatbot. By leveraging </a:t>
            </a:r>
            <a:r>
              <a:rPr lang="en-US" sz="1800" b="1" dirty="0">
                <a:latin typeface="Times New Roman" panose="02020603050405020304" pitchFamily="18" charset="0"/>
                <a:cs typeface="Times New Roman" panose="02020603050405020304" pitchFamily="18" charset="0"/>
              </a:rPr>
              <a:t>IBM </a:t>
            </a:r>
            <a:r>
              <a:rPr lang="en-US" sz="1800" b="1" dirty="0" err="1">
                <a:latin typeface="Times New Roman" panose="02020603050405020304" pitchFamily="18" charset="0"/>
                <a:cs typeface="Times New Roman" panose="02020603050405020304" pitchFamily="18" charset="0"/>
              </a:rPr>
              <a:t>watsonx</a:t>
            </a:r>
            <a:r>
              <a:rPr lang="en-US" sz="1800" b="1" dirty="0">
                <a:latin typeface="Times New Roman" panose="02020603050405020304" pitchFamily="18" charset="0"/>
                <a:cs typeface="Times New Roman" panose="02020603050405020304" pitchFamily="18" charset="0"/>
              </a:rPr>
              <a:t> Orchestrate</a:t>
            </a:r>
            <a:r>
              <a:rPr lang="en-US" sz="1800" dirty="0">
                <a:latin typeface="Times New Roman" panose="02020603050405020304" pitchFamily="18" charset="0"/>
                <a:cs typeface="Times New Roman" panose="02020603050405020304" pitchFamily="18" charset="0"/>
              </a:rPr>
              <a:t>, the agent coordinates tasks like recipe retrieval, ingredient adaptation, and cooking guidance in a streamlined workflow.</a:t>
            </a:r>
          </a:p>
          <a:p>
            <a:r>
              <a:rPr lang="en-US" sz="2800" b="1" dirty="0">
                <a:latin typeface="Times New Roman" panose="02020603050405020304" pitchFamily="18" charset="0"/>
                <a:cs typeface="Times New Roman" panose="02020603050405020304" pitchFamily="18" charset="0"/>
              </a:rPr>
              <a:t>🔑 Key Roles:</a:t>
            </a:r>
          </a:p>
          <a:p>
            <a:r>
              <a:rPr lang="en-US" sz="1800" b="1" dirty="0">
                <a:latin typeface="Times New Roman" panose="02020603050405020304" pitchFamily="18" charset="0"/>
                <a:cs typeface="Times New Roman" panose="02020603050405020304" pitchFamily="18" charset="0"/>
              </a:rPr>
              <a:t>Task Specialization</a:t>
            </a:r>
            <a:r>
              <a:rPr lang="en-US" sz="1800" dirty="0">
                <a:latin typeface="Times New Roman" panose="02020603050405020304" pitchFamily="18" charset="0"/>
                <a:cs typeface="Times New Roman" panose="02020603050405020304" pitchFamily="18" charset="0"/>
              </a:rPr>
              <a:t> – Orchestrate connects modules (Profile, Knowledge, Toolset, Behavior) so the agent can handle specialized tasks such as recipe suggestions, substitutions, and cooking instructions.</a:t>
            </a:r>
          </a:p>
          <a:p>
            <a:r>
              <a:rPr lang="en-US" sz="1800" b="1" dirty="0">
                <a:latin typeface="Times New Roman" panose="02020603050405020304" pitchFamily="18" charset="0"/>
                <a:cs typeface="Times New Roman" panose="02020603050405020304" pitchFamily="18" charset="0"/>
              </a:rPr>
              <a:t>Context Awareness</a:t>
            </a:r>
            <a:r>
              <a:rPr lang="en-US" sz="1800" dirty="0">
                <a:latin typeface="Times New Roman" panose="02020603050405020304" pitchFamily="18" charset="0"/>
                <a:cs typeface="Times New Roman" panose="02020603050405020304" pitchFamily="18" charset="0"/>
              </a:rPr>
              <a:t> – The agent adapts recipes based on user queries, available ingredients, and preferences (e.g., vegetarian, regional cuisines).</a:t>
            </a:r>
          </a:p>
          <a:p>
            <a:r>
              <a:rPr lang="en-US" sz="1800" b="1" dirty="0">
                <a:latin typeface="Times New Roman" panose="02020603050405020304" pitchFamily="18" charset="0"/>
                <a:cs typeface="Times New Roman" panose="02020603050405020304" pitchFamily="18" charset="0"/>
              </a:rPr>
              <a:t>Real‑Time Adaptation</a:t>
            </a:r>
            <a:r>
              <a:rPr lang="en-US" sz="1800" dirty="0">
                <a:latin typeface="Times New Roman" panose="02020603050405020304" pitchFamily="18" charset="0"/>
                <a:cs typeface="Times New Roman" panose="02020603050405020304" pitchFamily="18" charset="0"/>
              </a:rPr>
              <a:t> – Suggestions evolve dynamically as users provide new inputs (e.g., “I don’t have cream, suggest a substitute”).</a:t>
            </a:r>
          </a:p>
          <a:p>
            <a:r>
              <a:rPr lang="en-US" sz="1800" b="1" dirty="0">
                <a:latin typeface="Times New Roman" panose="02020603050405020304" pitchFamily="18" charset="0"/>
                <a:cs typeface="Times New Roman" panose="02020603050405020304" pitchFamily="18" charset="0"/>
              </a:rPr>
              <a:t>Workflow Coordination</a:t>
            </a:r>
            <a:r>
              <a:rPr lang="en-US" sz="1800" dirty="0">
                <a:latin typeface="Times New Roman" panose="02020603050405020304" pitchFamily="18" charset="0"/>
                <a:cs typeface="Times New Roman" panose="02020603050405020304" pitchFamily="18" charset="0"/>
              </a:rPr>
              <a:t> – Orchestrate ensures smooth communication between components, making the agent proactive and efficient.</a:t>
            </a:r>
          </a:p>
          <a:p>
            <a:r>
              <a:rPr lang="en-US" sz="1800" b="1" dirty="0">
                <a:latin typeface="Times New Roman" panose="02020603050405020304" pitchFamily="18" charset="0"/>
                <a:cs typeface="Times New Roman" panose="02020603050405020304" pitchFamily="18" charset="0"/>
              </a:rPr>
              <a:t>Personalization</a:t>
            </a:r>
            <a:r>
              <a:rPr lang="en-US" sz="1800" dirty="0">
                <a:latin typeface="Times New Roman" panose="02020603050405020304" pitchFamily="18" charset="0"/>
                <a:cs typeface="Times New Roman" panose="02020603050405020304" pitchFamily="18" charset="0"/>
              </a:rPr>
              <a:t> – Recipes are tailored to user needs, reducing food waste and improving everyday cooking experiences.</a:t>
            </a:r>
          </a:p>
          <a:p>
            <a:r>
              <a:rPr lang="en-US" sz="2800" b="1" dirty="0">
                <a:latin typeface="Times New Roman" panose="02020603050405020304" pitchFamily="18" charset="0"/>
                <a:cs typeface="Times New Roman" panose="02020603050405020304" pitchFamily="18" charset="0"/>
              </a:rPr>
              <a:t>📌 Outcome:</a:t>
            </a:r>
          </a:p>
          <a:p>
            <a:r>
              <a:rPr lang="en-US" sz="1800" dirty="0">
                <a:latin typeface="Times New Roman" panose="02020603050405020304" pitchFamily="18" charset="0"/>
                <a:cs typeface="Times New Roman" panose="02020603050405020304" pitchFamily="18" charset="0"/>
              </a:rPr>
              <a:t>With Orchestrate, the Recipe Agent becomes </a:t>
            </a:r>
            <a:r>
              <a:rPr lang="en-US" sz="1800" b="1" dirty="0">
                <a:latin typeface="Times New Roman" panose="02020603050405020304" pitchFamily="18" charset="0"/>
                <a:cs typeface="Times New Roman" panose="02020603050405020304" pitchFamily="18" charset="0"/>
              </a:rPr>
              <a:t>proactive, personalized, and goal‑driven</a:t>
            </a:r>
            <a:r>
              <a:rPr lang="en-US" sz="1800" dirty="0">
                <a:latin typeface="Times New Roman" panose="02020603050405020304" pitchFamily="18" charset="0"/>
                <a:cs typeface="Times New Roman" panose="02020603050405020304" pitchFamily="18" charset="0"/>
              </a:rPr>
              <a:t>. Instead of just answering queries, it acts like a smart digital cooking assistant—helping users prepare meals with what they have, guiding them step by step, and promoting sustainable cooking practices.</a:t>
            </a:r>
          </a:p>
          <a:p>
            <a:endParaRPr lang="en-US" sz="1600" dirty="0"/>
          </a:p>
        </p:txBody>
      </p:sp>
      <p:sp>
        <p:nvSpPr>
          <p:cNvPr id="4" name="TextBox 3">
            <a:extLst>
              <a:ext uri="{FF2B5EF4-FFF2-40B4-BE49-F238E27FC236}">
                <a16:creationId xmlns:a16="http://schemas.microsoft.com/office/drawing/2014/main" id="{A30DCC0C-410E-96BF-A6CC-AAE9882C7EAF}"/>
              </a:ext>
            </a:extLst>
          </p:cNvPr>
          <p:cNvSpPr txBox="1"/>
          <p:nvPr/>
        </p:nvSpPr>
        <p:spPr>
          <a:xfrm>
            <a:off x="0" y="0"/>
            <a:ext cx="7330191" cy="769441"/>
          </a:xfrm>
          <a:prstGeom prst="rect">
            <a:avLst/>
          </a:prstGeom>
          <a:noFill/>
        </p:spPr>
        <p:txBody>
          <a:bodyPr wrap="square" rtlCol="0">
            <a:spAutoFit/>
          </a:bodyPr>
          <a:lstStyle/>
          <a:p>
            <a:r>
              <a:rPr lang="en-US" sz="4400" b="1" dirty="0">
                <a:solidFill>
                  <a:srgbClr val="FF0000"/>
                </a:solidFill>
                <a:latin typeface="Times New Roman" panose="02020603050405020304" pitchFamily="18" charset="0"/>
                <a:cs typeface="Times New Roman" panose="02020603050405020304" pitchFamily="18" charset="0"/>
              </a:rPr>
              <a:t>Role of Agentic AI:</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3E202A4-4FE8-E2DB-0B55-96D607331D32}"/>
              </a:ext>
            </a:extLst>
          </p:cNvPr>
          <p:cNvSpPr>
            <a:spLocks noGrp="1" noChangeArrowheads="1"/>
          </p:cNvSpPr>
          <p:nvPr>
            <p:ph type="body" idx="1"/>
          </p:nvPr>
        </p:nvSpPr>
        <p:spPr bwMode="auto">
          <a:xfrm>
            <a:off x="0" y="899446"/>
            <a:ext cx="12015537" cy="5930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3600" b="1" dirty="0">
                <a:latin typeface="Times New Roman" panose="02020603050405020304" pitchFamily="18" charset="0"/>
                <a:cs typeface="Times New Roman" panose="02020603050405020304" pitchFamily="18" charset="0"/>
              </a:rPr>
              <a:t>Technology Used – IBM </a:t>
            </a:r>
            <a:r>
              <a:rPr lang="en-US" sz="3600" b="1" dirty="0" err="1">
                <a:latin typeface="Times New Roman" panose="02020603050405020304" pitchFamily="18" charset="0"/>
                <a:cs typeface="Times New Roman" panose="02020603050405020304" pitchFamily="18" charset="0"/>
              </a:rPr>
              <a:t>watsonx</a:t>
            </a:r>
            <a:r>
              <a:rPr lang="en-US" sz="3600" b="1" dirty="0">
                <a:latin typeface="Times New Roman" panose="02020603050405020304" pitchFamily="18" charset="0"/>
                <a:cs typeface="Times New Roman" panose="02020603050405020304" pitchFamily="18" charset="0"/>
              </a:rPr>
              <a:t> Orchestrate:</a:t>
            </a:r>
          </a:p>
          <a:p>
            <a:r>
              <a:rPr lang="en-US" sz="2000" b="1" dirty="0">
                <a:latin typeface="Times New Roman" panose="02020603050405020304" pitchFamily="18" charset="0"/>
                <a:cs typeface="Times New Roman" panose="02020603050405020304" pitchFamily="18" charset="0"/>
              </a:rPr>
              <a:t>IBM </a:t>
            </a:r>
            <a:r>
              <a:rPr lang="en-US" sz="2000" b="1" dirty="0" err="1">
                <a:latin typeface="Times New Roman" panose="02020603050405020304" pitchFamily="18" charset="0"/>
                <a:cs typeface="Times New Roman" panose="02020603050405020304" pitchFamily="18" charset="0"/>
              </a:rPr>
              <a:t>watsonx</a:t>
            </a:r>
            <a:r>
              <a:rPr lang="en-US" sz="2000" b="1" dirty="0">
                <a:latin typeface="Times New Roman" panose="02020603050405020304" pitchFamily="18" charset="0"/>
                <a:cs typeface="Times New Roman" panose="02020603050405020304" pitchFamily="18" charset="0"/>
              </a:rPr>
              <a:t> Orchestrate</a:t>
            </a:r>
            <a:r>
              <a:rPr lang="en-US" sz="2000" dirty="0">
                <a:latin typeface="Times New Roman" panose="02020603050405020304" pitchFamily="18" charset="0"/>
                <a:cs typeface="Times New Roman" panose="02020603050405020304" pitchFamily="18" charset="0"/>
              </a:rPr>
              <a:t> – Core platform used to design, deploy, and manage the Recipe Agent workflow. It provides orchestration across modules (Profile, Knowledge, Toolset, Behavior) to deliver intelligent cooking guidance.</a:t>
            </a:r>
          </a:p>
          <a:p>
            <a:r>
              <a:rPr lang="en-US" sz="2000" b="1" dirty="0">
                <a:latin typeface="Times New Roman" panose="02020603050405020304" pitchFamily="18" charset="0"/>
                <a:cs typeface="Times New Roman" panose="02020603050405020304" pitchFamily="18" charset="0"/>
              </a:rPr>
              <a:t>Orchestrate Agent Framework</a:t>
            </a:r>
            <a:r>
              <a:rPr lang="en-US" sz="2000" dirty="0">
                <a:latin typeface="Times New Roman" panose="02020603050405020304" pitchFamily="18" charset="0"/>
                <a:cs typeface="Times New Roman" panose="02020603050405020304" pitchFamily="18" charset="0"/>
              </a:rPr>
              <a:t> – Connects user queries with the agent’s knowledge and behavior, enabling recipe retrieval, adaptation, and step‑by‑step cooking instructions.</a:t>
            </a:r>
          </a:p>
          <a:p>
            <a:r>
              <a:rPr lang="en-US" sz="2000" b="1" dirty="0">
                <a:latin typeface="Times New Roman" panose="02020603050405020304" pitchFamily="18" charset="0"/>
                <a:cs typeface="Times New Roman" panose="02020603050405020304" pitchFamily="18" charset="0"/>
              </a:rPr>
              <a:t>IBM Cloud</a:t>
            </a:r>
            <a:r>
              <a:rPr lang="en-US" sz="2000" dirty="0">
                <a:latin typeface="Times New Roman" panose="02020603050405020304" pitchFamily="18" charset="0"/>
                <a:cs typeface="Times New Roman" panose="02020603050405020304" pitchFamily="18" charset="0"/>
              </a:rPr>
              <a:t> – Provides secure, scalable infrastructure for hosting and running the Recipe Agent efficiently.</a:t>
            </a:r>
          </a:p>
          <a:p>
            <a:r>
              <a:rPr lang="en-US" sz="2000" b="1" dirty="0">
                <a:latin typeface="Times New Roman" panose="02020603050405020304" pitchFamily="18" charset="0"/>
                <a:cs typeface="Times New Roman" panose="02020603050405020304" pitchFamily="18" charset="0"/>
              </a:rPr>
              <a:t>Embedded Agent Interface</a:t>
            </a:r>
            <a:r>
              <a:rPr lang="en-US" sz="2000" dirty="0">
                <a:latin typeface="Times New Roman" panose="02020603050405020304" pitchFamily="18" charset="0"/>
                <a:cs typeface="Times New Roman" panose="02020603050405020304" pitchFamily="18" charset="0"/>
              </a:rPr>
              <a:t> – Allows integration of the Recipe Agent into websites or applications using JavaScript embed code for real‑time interaction.</a:t>
            </a:r>
          </a:p>
          <a:p>
            <a:r>
              <a:rPr lang="en-US" sz="2000" b="1" dirty="0">
                <a:latin typeface="Times New Roman" panose="02020603050405020304" pitchFamily="18" charset="0"/>
                <a:cs typeface="Times New Roman" panose="02020603050405020304" pitchFamily="18" charset="0"/>
              </a:rPr>
              <a:t>Knowledge Module</a:t>
            </a:r>
            <a:r>
              <a:rPr lang="en-US" sz="2000" dirty="0">
                <a:latin typeface="Times New Roman" panose="02020603050405020304" pitchFamily="18" charset="0"/>
                <a:cs typeface="Times New Roman" panose="02020603050405020304" pitchFamily="18" charset="0"/>
              </a:rPr>
              <a:t> – Stores recipe datasets, cooking tips, and user preferences for reuse.</a:t>
            </a:r>
          </a:p>
          <a:p>
            <a:r>
              <a:rPr lang="en-US" sz="2000" b="1" dirty="0">
                <a:latin typeface="Times New Roman" panose="02020603050405020304" pitchFamily="18" charset="0"/>
                <a:cs typeface="Times New Roman" panose="02020603050405020304" pitchFamily="18" charset="0"/>
              </a:rPr>
              <a:t>Toolset Module</a:t>
            </a:r>
            <a:r>
              <a:rPr lang="en-US" sz="2000" dirty="0">
                <a:latin typeface="Times New Roman" panose="02020603050405020304" pitchFamily="18" charset="0"/>
                <a:cs typeface="Times New Roman" panose="02020603050405020304" pitchFamily="18" charset="0"/>
              </a:rPr>
              <a:t> – Links external APIs or functions (e.g., recipe retrieval, substitution logic) to extend agent capabilities.</a:t>
            </a:r>
          </a:p>
          <a:p>
            <a:r>
              <a:rPr lang="en-US" sz="2000" b="1" dirty="0">
                <a:latin typeface="Times New Roman" panose="02020603050405020304" pitchFamily="18" charset="0"/>
                <a:cs typeface="Times New Roman" panose="02020603050405020304" pitchFamily="18" charset="0"/>
              </a:rPr>
              <a:t>Behavior Module</a:t>
            </a:r>
            <a:r>
              <a:rPr lang="en-US" sz="2000" dirty="0">
                <a:latin typeface="Times New Roman" panose="02020603050405020304" pitchFamily="18" charset="0"/>
                <a:cs typeface="Times New Roman" panose="02020603050405020304" pitchFamily="18" charset="0"/>
              </a:rPr>
              <a:t> – Defines how the agent responds, adapts recipes, and guides users through cooking steps.</a:t>
            </a:r>
          </a:p>
          <a:p>
            <a:r>
              <a:rPr lang="en-US" sz="2000" b="1" dirty="0">
                <a:latin typeface="Times New Roman" panose="02020603050405020304" pitchFamily="18" charset="0"/>
                <a:cs typeface="Times New Roman" panose="02020603050405020304" pitchFamily="18" charset="0"/>
              </a:rPr>
              <a:t>Channels (Optional)</a:t>
            </a:r>
            <a:r>
              <a:rPr lang="en-US" sz="2000" dirty="0">
                <a:latin typeface="Times New Roman" panose="02020603050405020304" pitchFamily="18" charset="0"/>
                <a:cs typeface="Times New Roman" panose="02020603050405020304" pitchFamily="18" charset="0"/>
              </a:rPr>
              <a:t> – Enables multi‑platform deployment, allowing the Recipe Agent to interact across different environments.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5576154-6207-EE04-5E51-CD11321004E1}"/>
              </a:ext>
            </a:extLst>
          </p:cNvPr>
          <p:cNvSpPr/>
          <p:nvPr/>
        </p:nvSpPr>
        <p:spPr>
          <a:xfrm>
            <a:off x="320842" y="-143781"/>
            <a:ext cx="5282215"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Technology Used:</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746805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170533" y="0"/>
            <a:ext cx="7123176" cy="769441"/>
          </a:xfrm>
          <a:prstGeom prst="rect">
            <a:avLst/>
          </a:prstGeom>
          <a:noFill/>
        </p:spPr>
        <p:txBody>
          <a:bodyPr wrap="square" rtlCol="0">
            <a:spAutoFit/>
          </a:bodyPr>
          <a:lstStyle/>
          <a:p>
            <a:r>
              <a:rPr lang="en-US" sz="4400" dirty="0">
                <a:ln w="0"/>
                <a:gradFill>
                  <a:gsLst>
                    <a:gs pos="21000">
                      <a:srgbClr val="53575C"/>
                    </a:gs>
                    <a:gs pos="88000">
                      <a:srgbClr val="C5C7CA"/>
                    </a:gs>
                  </a:gsLst>
                  <a:lin ang="5400000"/>
                </a:gradFill>
                <a:latin typeface="Times New Roman" panose="02020603050405020304" pitchFamily="18" charset="0"/>
                <a:cs typeface="Times New Roman" panose="02020603050405020304" pitchFamily="18" charset="0"/>
              </a:rPr>
              <a:t>Novelty and Uniqueness:</a:t>
            </a:r>
            <a:endParaRPr lang="en-IN" sz="4400" dirty="0">
              <a:ln w="0"/>
              <a:gradFill>
                <a:gsLst>
                  <a:gs pos="21000">
                    <a:srgbClr val="53575C"/>
                  </a:gs>
                  <a:gs pos="88000">
                    <a:srgbClr val="C5C7CA"/>
                  </a:gs>
                </a:gsLst>
                <a:lin ang="5400000"/>
              </a:gra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9D22E98-F3C2-61EB-E92F-905A055C20BB}"/>
              </a:ext>
            </a:extLst>
          </p:cNvPr>
          <p:cNvSpPr>
            <a:spLocks noChangeArrowheads="1"/>
          </p:cNvSpPr>
          <p:nvPr/>
        </p:nvSpPr>
        <p:spPr bwMode="auto">
          <a:xfrm>
            <a:off x="170532" y="918949"/>
            <a:ext cx="12021467"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Orchestrated Intelligence</a:t>
            </a:r>
            <a:r>
              <a:rPr lang="en-US" sz="2400" dirty="0">
                <a:latin typeface="Times New Roman" panose="02020603050405020304" pitchFamily="18" charset="0"/>
                <a:cs typeface="Times New Roman" panose="02020603050405020304" pitchFamily="18" charset="0"/>
              </a:rPr>
              <a:t> – Instead of a simple chatbot, the system leverages IBM </a:t>
            </a:r>
            <a:r>
              <a:rPr lang="en-US" sz="2400" dirty="0" err="1">
                <a:latin typeface="Times New Roman" panose="02020603050405020304" pitchFamily="18" charset="0"/>
                <a:cs typeface="Times New Roman" panose="02020603050405020304" pitchFamily="18" charset="0"/>
              </a:rPr>
              <a:t>watsonx</a:t>
            </a:r>
            <a:r>
              <a:rPr lang="en-US" sz="2400" dirty="0">
                <a:latin typeface="Times New Roman" panose="02020603050405020304" pitchFamily="18" charset="0"/>
                <a:cs typeface="Times New Roman" panose="02020603050405020304" pitchFamily="18" charset="0"/>
              </a:rPr>
              <a:t> Orchestrate to coordinate modules (Profile, Knowledge, Toolset, Behavior) that work together to deliver accurate and context‑aware recipe guidance.</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Workflow‑Driven Accuracy</a:t>
            </a:r>
            <a:r>
              <a:rPr lang="en-US" sz="2400" dirty="0">
                <a:latin typeface="Times New Roman" panose="02020603050405020304" pitchFamily="18" charset="0"/>
                <a:cs typeface="Times New Roman" panose="02020603050405020304" pitchFamily="18" charset="0"/>
              </a:rPr>
              <a:t> – Orchestrate ensures that recipe queries are processed through a structured workflow, reducing errors and providing trustworthy cooking suggestions.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Hyper‑Personalization</a:t>
            </a:r>
            <a:r>
              <a:rPr lang="en-US" sz="2400" dirty="0">
                <a:latin typeface="Times New Roman" panose="02020603050405020304" pitchFamily="18" charset="0"/>
                <a:cs typeface="Times New Roman" panose="02020603050405020304" pitchFamily="18" charset="0"/>
              </a:rPr>
              <a:t> – Recipes are tailored based on user inputs such as available ingredients, dietary restrictions (vegetarian, vegan, gluten‑free), and cultural cuisines.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Real‑Time Adaptation</a:t>
            </a:r>
            <a:r>
              <a:rPr lang="en-US" sz="2400" dirty="0">
                <a:latin typeface="Times New Roman" panose="02020603050405020304" pitchFamily="18" charset="0"/>
                <a:cs typeface="Times New Roman" panose="02020603050405020304" pitchFamily="18" charset="0"/>
              </a:rPr>
              <a:t> – Suggestions evolve dynamically as users provide new inputs (e.g., “I don’t have cream, suggest a substitute”).</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Multi‑Channel Deployment (Future Scope)</a:t>
            </a:r>
            <a:r>
              <a:rPr lang="en-US" sz="2400" dirty="0">
                <a:latin typeface="Times New Roman" panose="02020603050405020304" pitchFamily="18" charset="0"/>
                <a:cs typeface="Times New Roman" panose="02020603050405020304" pitchFamily="18" charset="0"/>
              </a:rPr>
              <a:t> – The agent can be embedded into websites or extended to voice/chat platforms, enabling text, voice, even image‑based ingredient queries.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Sustainable Cooking Focus</a:t>
            </a:r>
            <a:r>
              <a:rPr lang="en-US" sz="2400" dirty="0">
                <a:latin typeface="Times New Roman" panose="02020603050405020304" pitchFamily="18" charset="0"/>
                <a:cs typeface="Times New Roman" panose="02020603050405020304" pitchFamily="18" charset="0"/>
              </a:rPr>
              <a:t> – Goes beyond recipe generation to actively reduce food waste by maximizing use of pantry items.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Scalable &amp; Enterprise‑Ready</a:t>
            </a:r>
            <a:r>
              <a:rPr lang="en-US" sz="2400" dirty="0">
                <a:latin typeface="Times New Roman" panose="02020603050405020304" pitchFamily="18" charset="0"/>
                <a:cs typeface="Times New Roman" panose="02020603050405020304" pitchFamily="18" charset="0"/>
              </a:rPr>
              <a:t> – Built on IBM </a:t>
            </a:r>
            <a:r>
              <a:rPr lang="en-US" sz="2400" dirty="0" err="1">
                <a:latin typeface="Times New Roman" panose="02020603050405020304" pitchFamily="18" charset="0"/>
                <a:cs typeface="Times New Roman" panose="02020603050405020304" pitchFamily="18" charset="0"/>
              </a:rPr>
              <a:t>watsonx</a:t>
            </a:r>
            <a:r>
              <a:rPr lang="en-US" sz="2400" dirty="0">
                <a:latin typeface="Times New Roman" panose="02020603050405020304" pitchFamily="18" charset="0"/>
                <a:cs typeface="Times New Roman" panose="02020603050405020304" pitchFamily="18" charset="0"/>
              </a:rPr>
              <a:t> Orchestrate and IBM Cloud, ensuring reliability, governance, and adaptability for larger deployments.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9" name="Google Shape;279;p18">
            <a:extLst>
              <a:ext uri="{FF2B5EF4-FFF2-40B4-BE49-F238E27FC236}">
                <a16:creationId xmlns:a16="http://schemas.microsoft.com/office/drawing/2014/main" id="{15507A2F-9304-7475-5C74-2BAA93879CFE}"/>
              </a:ext>
            </a:extLst>
          </p:cNvPr>
          <p:cNvSpPr/>
          <p:nvPr/>
        </p:nvSpPr>
        <p:spPr>
          <a:xfrm>
            <a:off x="359764" y="1153712"/>
            <a:ext cx="11242623"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4000" b="1"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r>
              <a:rPr lang="en-US" sz="4000" b="1" dirty="0">
                <a:solidFill>
                  <a:srgbClr val="2B3541"/>
                </a:solidFill>
                <a:latin typeface="Times New Roman" panose="02020603050405020304" pitchFamily="18" charset="0"/>
                <a:ea typeface="Times New Roman"/>
                <a:cs typeface="Times New Roman" panose="02020603050405020304" pitchFamily="18" charset="0"/>
                <a:sym typeface="Times New Roman"/>
              </a:rPr>
              <a:t>GitHub URL –</a:t>
            </a:r>
          </a:p>
          <a:p>
            <a:pPr marL="0" marR="0" lvl="0" indent="0" algn="l" rtl="0">
              <a:lnSpc>
                <a:spcPct val="162162"/>
              </a:lnSpc>
              <a:spcBef>
                <a:spcPts val="0"/>
              </a:spcBef>
              <a:spcAft>
                <a:spcPts val="0"/>
              </a:spcAft>
              <a:buClr>
                <a:srgbClr val="2B3541"/>
              </a:buClr>
              <a:buSzPts val="1850"/>
              <a:buFont typeface="Times New Roman"/>
              <a:buNone/>
            </a:pPr>
            <a:r>
              <a:rPr lang="en-US" sz="3600" b="1" dirty="0">
                <a:solidFill>
                  <a:srgbClr val="2B3541"/>
                </a:solidFill>
                <a:latin typeface="Times New Roman" panose="02020603050405020304" pitchFamily="18" charset="0"/>
                <a:ea typeface="Times New Roman"/>
                <a:cs typeface="Times New Roman" panose="02020603050405020304" pitchFamily="18" charset="0"/>
                <a:sym typeface="Times New Roman"/>
                <a:hlinkClick r:id="rId3"/>
              </a:rPr>
              <a:t>https://github.com/Kavya-1104-reddy/Edunet_Projects</a:t>
            </a:r>
            <a:endParaRPr lang="en-US" sz="3600" b="1"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lvl="0">
              <a:lnSpc>
                <a:spcPct val="162162"/>
              </a:lnSpc>
              <a:buClr>
                <a:srgbClr val="2B3541"/>
              </a:buClr>
              <a:buSzPts val="1850"/>
            </a:pPr>
            <a:endParaRPr lang="en-US" sz="4000" b="1"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7E3CFB5-918E-48E8-531B-E7285EE503B6}"/>
              </a:ext>
            </a:extLst>
          </p:cNvPr>
          <p:cNvSpPr txBox="1"/>
          <p:nvPr/>
        </p:nvSpPr>
        <p:spPr>
          <a:xfrm>
            <a:off x="569626" y="311226"/>
            <a:ext cx="5106650" cy="769441"/>
          </a:xfrm>
          <a:prstGeom prst="rect">
            <a:avLst/>
          </a:prstGeom>
          <a:noFill/>
        </p:spPr>
        <p:txBody>
          <a:bodyPr wrap="square" rtlCol="0">
            <a:spAutoFit/>
          </a:bodyPr>
          <a:lstStyle/>
          <a:p>
            <a:r>
              <a:rPr lang="en-US" sz="4400" b="1" dirty="0">
                <a:solidFill>
                  <a:srgbClr val="00B050"/>
                </a:solidFill>
                <a:latin typeface="Times New Roman" panose="02020603050405020304" pitchFamily="18" charset="0"/>
                <a:cs typeface="Times New Roman" panose="02020603050405020304" pitchFamily="18" charset="0"/>
              </a:rPr>
              <a:t>GitHub Link</a:t>
            </a:r>
            <a:r>
              <a:rPr lang="en-US" sz="4000" b="1" dirty="0">
                <a:solidFill>
                  <a:srgbClr val="00B05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1548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245226" y="-261067"/>
            <a:ext cx="6444496" cy="967146"/>
          </a:xfrm>
          <a:prstGeom prst="rect">
            <a:avLst/>
          </a:prstGeom>
          <a:noFill/>
          <a:ln>
            <a:noFill/>
          </a:ln>
        </p:spPr>
        <p:txBody>
          <a:bodyPr spcFirstLastPara="1" wrap="square" lIns="0" tIns="0" rIns="0" bIns="0" anchor="t" anchorCtr="0">
            <a:no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l" rtl="0">
              <a:lnSpc>
                <a:spcPct val="157142"/>
              </a:lnSpc>
              <a:spcBef>
                <a:spcPts val="0"/>
              </a:spcBef>
              <a:spcAft>
                <a:spcPts val="0"/>
              </a:spcAft>
              <a:buClr>
                <a:srgbClr val="051D3A"/>
              </a:buClr>
              <a:buSzPts val="3500"/>
              <a:buFont typeface="Times New Roman"/>
              <a:buNone/>
            </a:pPr>
            <a:r>
              <a:rPr lang="en-US" sz="4400" b="1" dirty="0">
                <a:ln/>
                <a:solidFill>
                  <a:schemeClr val="accent3"/>
                </a:solidFill>
                <a:latin typeface="Times New Roman" panose="02020603050405020304" pitchFamily="18" charset="0"/>
                <a:cs typeface="Times New Roman" panose="02020603050405020304" pitchFamily="18" charset="0"/>
                <a:sym typeface="Times New Roman"/>
              </a:rPr>
              <a:t>Future Scope: </a:t>
            </a:r>
            <a:endParaRPr sz="4400" b="1" dirty="0">
              <a:ln/>
              <a:solidFill>
                <a:schemeClr val="accent3"/>
              </a:solidFill>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528690" y="3684251"/>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3" name="Rectangle 1">
            <a:extLst>
              <a:ext uri="{FF2B5EF4-FFF2-40B4-BE49-F238E27FC236}">
                <a16:creationId xmlns:a16="http://schemas.microsoft.com/office/drawing/2014/main" id="{85E7B0C6-4827-6A33-97B5-806F7E9BBA7A}"/>
              </a:ext>
            </a:extLst>
          </p:cNvPr>
          <p:cNvSpPr>
            <a:spLocks noChangeArrowheads="1"/>
          </p:cNvSpPr>
          <p:nvPr/>
        </p:nvSpPr>
        <p:spPr bwMode="auto">
          <a:xfrm>
            <a:off x="169026" y="706078"/>
            <a:ext cx="1185394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Smart Kitchen &amp; IoT Devices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Recipe Agent can be connected with smart appliances (ovens, induction stoves, refrigerators) to automate cooking steps and track ingredient availability.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Orchestrate workflows can adjust recipes in real time based on what’s physically present in the kitchen.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Voice Assistant &amp; Multilingual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Adding voice interaction and multilingual capabilities will allow users to engage naturally in their preferred language, making the solution more inclusive and accessible across diverse regions.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Nutritional Analysis &amp; Health Recommendations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Future versions can integrate nutrition APIs within Orchestrate to analyze calories, macros, and vitamins, offering health‑focused suggestions such as diabetic‑friendly or heart‑healthy meal plans.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Community &amp; Recipe Sharing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Orchestrate can be extended to manage a community dashboard where users share recipes, substitutions, and cooking tips, fostering collaboration and sustainable cooking practices.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Multi‑Channel Input Expansion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Beyond text, Orchestrate can support voice and image‑based queries (e.g., scanning pantry items or uploading ingredient photos), making recipe generation more intuitive and user‑friendly.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Sustainable Cooking Focus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agent continues to emphasize reducing food waste by maximizing pantry usage, aligning with eco‑friendly and sustainable living goals.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&amp; Enterprise‑Ready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Built on IBM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watsonx</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Orchestrate and IBM Cloud, the system ensures reliability, governance, and adaptability for larger deployments in enterprise or consumer platforms.</a:t>
            </a: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1810</TotalTime>
  <Words>1799</Words>
  <Application>Microsoft Office PowerPoint</Application>
  <PresentationFormat>Widescreen</PresentationFormat>
  <Paragraphs>113</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Algerian</vt: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Orchestrate Components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 Navya sree</cp:lastModifiedBy>
  <cp:revision>23</cp:revision>
  <dcterms:created xsi:type="dcterms:W3CDTF">2025-07-08T05:06:56Z</dcterms:created>
  <dcterms:modified xsi:type="dcterms:W3CDTF">2026-06-10T13:05:31Z</dcterms:modified>
</cp:coreProperties>
</file>